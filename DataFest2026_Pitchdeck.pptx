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728" r:id="rId1"/>
  </p:sldMasterIdLst>
  <p:sldIdLst>
    <p:sldId id="264" r:id="rId2"/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34"/>
    <p:restoredTop sz="94628"/>
  </p:normalViewPr>
  <p:slideViewPr>
    <p:cSldViewPr snapToGrid="0">
      <p:cViewPr varScale="1">
        <p:scale>
          <a:sx n="119" d="100"/>
          <a:sy n="119" d="100"/>
        </p:scale>
        <p:origin x="504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4242851"/>
            <a:ext cx="8968084" cy="275942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1716" y="4243845"/>
            <a:ext cx="3077108" cy="27694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0" y="2590078"/>
            <a:ext cx="8968085" cy="1660332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9111715" y="2590078"/>
            <a:ext cx="3077109" cy="166033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0322" y="2733709"/>
            <a:ext cx="8144134" cy="1373070"/>
          </a:xfrm>
        </p:spPr>
        <p:txBody>
          <a:bodyPr anchor="b">
            <a:noAutofit/>
          </a:bodyPr>
          <a:lstStyle>
            <a:lvl1pPr algn="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0322" y="4394039"/>
            <a:ext cx="8144134" cy="1117687"/>
          </a:xfrm>
        </p:spPr>
        <p:txBody>
          <a:bodyPr>
            <a:normAutofit/>
          </a:bodyPr>
          <a:lstStyle>
            <a:lvl1pPr marL="0" indent="0" algn="r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4/30/26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255346" y="2750337"/>
            <a:ext cx="1171888" cy="1356442"/>
          </a:xfrm>
        </p:spPr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75288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6" name="Picture 15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8" name="Rectangle 17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4/30/26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65810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4086907"/>
            <a:ext cx="10437812" cy="321164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4" y="4087901"/>
            <a:ext cx="1602997" cy="14427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-2" y="2726267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10585825" y="2726267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2869895"/>
            <a:ext cx="9613860" cy="1090788"/>
          </a:xfrm>
        </p:spPr>
        <p:txBody>
          <a:bodyPr anchor="ctr">
            <a:normAutofit/>
          </a:bodyPr>
          <a:lstStyle>
            <a:lvl1pPr algn="r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0322" y="4232171"/>
            <a:ext cx="9613860" cy="1704017"/>
          </a:xfrm>
        </p:spPr>
        <p:txBody>
          <a:bodyPr>
            <a:normAutofit/>
          </a:bodyPr>
          <a:lstStyle>
            <a:lvl1pPr marL="0" indent="0" algn="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4/30/26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729455" y="2869895"/>
            <a:ext cx="1154151" cy="1090789"/>
          </a:xfrm>
        </p:spPr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93563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0320" y="2336873"/>
            <a:ext cx="4698358" cy="35993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594123" y="2336873"/>
            <a:ext cx="4700058" cy="35993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4/30/26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56183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1" name="Picture 10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19" y="753229"/>
            <a:ext cx="9613863" cy="108093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06350" y="2336873"/>
            <a:ext cx="4472327" cy="69313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0322" y="3030008"/>
            <a:ext cx="4698355" cy="29061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820154" y="2336873"/>
            <a:ext cx="4474028" cy="69207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594123" y="3030008"/>
            <a:ext cx="4700059" cy="29061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4/30/26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114108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7" name="Picture 6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4/30/26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6573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HD-ShadowShor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4/30/26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02518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1" y="753227"/>
            <a:ext cx="9613859" cy="108094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85846" y="2336873"/>
            <a:ext cx="5608336" cy="35993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2336872"/>
            <a:ext cx="3790078" cy="359931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4/30/26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95129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3" y="753228"/>
            <a:ext cx="9613857" cy="1080938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868333" y="2336874"/>
            <a:ext cx="5425849" cy="3599312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3" y="2336873"/>
            <a:ext cx="3876256" cy="3599315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4/30/26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73901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4711616"/>
            <a:ext cx="9613859" cy="453051"/>
          </a:xfrm>
        </p:spPr>
        <p:txBody>
          <a:bodyPr anchor="b">
            <a:normAutofit/>
          </a:bodyPr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0322" y="609597"/>
            <a:ext cx="9613859" cy="3589575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19" y="5169583"/>
            <a:ext cx="9613862" cy="622971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4/30/26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11309"/>
            <a:ext cx="1154151" cy="1090789"/>
          </a:xfrm>
        </p:spPr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63035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609597"/>
            <a:ext cx="9613858" cy="3592750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4711615"/>
            <a:ext cx="9613859" cy="1090789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4/30/26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11615"/>
            <a:ext cx="1154151" cy="1090789"/>
          </a:xfrm>
        </p:spPr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6281086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13" name="Picture 12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5" name="Rectangle 14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7856" y="609598"/>
            <a:ext cx="8718877" cy="3036061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402288" y="3653379"/>
            <a:ext cx="815657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4711615"/>
            <a:ext cx="9613859" cy="1090789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4/30/26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09925"/>
            <a:ext cx="1154151" cy="1090789"/>
          </a:xfrm>
        </p:spPr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6" name="TextBox 15"/>
          <p:cNvSpPr txBox="1"/>
          <p:nvPr/>
        </p:nvSpPr>
        <p:spPr>
          <a:xfrm>
            <a:off x="583572" y="74811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72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62809" y="30335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72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72939388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10" name="Picture 9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19" y="4711615"/>
            <a:ext cx="9613862" cy="5885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0" y="5300149"/>
            <a:ext cx="9613862" cy="50225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4/30/26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09925"/>
            <a:ext cx="1154151" cy="1090789"/>
          </a:xfrm>
        </p:spPr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1444599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4" name="Picture 13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7" name="Rectangle 16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669222" y="753228"/>
            <a:ext cx="9624960" cy="108093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60946" y="2336873"/>
            <a:ext cx="3070034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0322" y="3022673"/>
            <a:ext cx="3049702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56025" y="2336873"/>
            <a:ext cx="306324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945470" y="3022673"/>
            <a:ext cx="3063240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224156" y="2336873"/>
            <a:ext cx="30700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224156" y="3022673"/>
            <a:ext cx="3070025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4/30/26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486309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6" name="Picture 15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8" name="Rectangle 17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680322" y="753228"/>
            <a:ext cx="9613860" cy="108093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0318" y="4297503"/>
            <a:ext cx="304970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0318" y="2336873"/>
            <a:ext cx="3049705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0318" y="4873765"/>
            <a:ext cx="3049705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45471" y="4297503"/>
            <a:ext cx="306324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945470" y="2336873"/>
            <a:ext cx="3063240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944117" y="4873764"/>
            <a:ext cx="3067297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230678" y="4297503"/>
            <a:ext cx="306350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230677" y="2336873"/>
            <a:ext cx="3063505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230553" y="4873762"/>
            <a:ext cx="3067563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4/30/26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8392413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4/30/26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7108245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 bwMode="ltGray">
          <a:xfrm rot="5400000">
            <a:off x="8116207" y="1869395"/>
            <a:ext cx="5106988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8" name="Rectangle 7"/>
          <p:cNvSpPr/>
          <p:nvPr/>
        </p:nvSpPr>
        <p:spPr>
          <a:xfrm rot="5400000">
            <a:off x="9868202" y="5372403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129231" y="609597"/>
            <a:ext cx="1073802" cy="435376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0322" y="609597"/>
            <a:ext cx="8870004" cy="53265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807126" y="5936187"/>
            <a:ext cx="2743200" cy="365125"/>
          </a:xfrm>
        </p:spPr>
        <p:txBody>
          <a:bodyPr/>
          <a:lstStyle/>
          <a:p>
            <a:fld id="{C764DE79-268F-4C1A-8933-263129D2AF90}" type="datetimeFigureOut">
              <a:rPr lang="en-US" smtClean="0"/>
              <a:t>4/30/26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0321" y="5936188"/>
            <a:ext cx="6126805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097550" y="5398633"/>
            <a:ext cx="1154151" cy="1090789"/>
          </a:xfrm>
        </p:spPr>
        <p:txBody>
          <a:bodyPr anchor="t"/>
          <a:lstStyle>
            <a:lvl1pPr algn="ctr">
              <a:defRPr/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287212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ashOverlay-FullResolve.png"/>
          <p:cNvPicPr>
            <a:picLocks noChangeAspect="1"/>
          </p:cNvPicPr>
          <p:nvPr/>
        </p:nvPicPr>
        <p:blipFill>
          <a:blip r:embed="rId19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0321" y="753228"/>
            <a:ext cx="9613861" cy="10809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0321" y="2336873"/>
            <a:ext cx="9613861" cy="35993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0981" y="5936187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4/30/26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0321" y="5936188"/>
            <a:ext cx="687066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29455" y="753227"/>
            <a:ext cx="1154151" cy="10907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4198453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29" r:id="rId1"/>
    <p:sldLayoutId id="2147483730" r:id="rId2"/>
    <p:sldLayoutId id="2147483731" r:id="rId3"/>
    <p:sldLayoutId id="2147483732" r:id="rId4"/>
    <p:sldLayoutId id="2147483733" r:id="rId5"/>
    <p:sldLayoutId id="2147483734" r:id="rId6"/>
    <p:sldLayoutId id="2147483735" r:id="rId7"/>
    <p:sldLayoutId id="2147483736" r:id="rId8"/>
    <p:sldLayoutId id="2147483737" r:id="rId9"/>
    <p:sldLayoutId id="2147483738" r:id="rId10"/>
    <p:sldLayoutId id="2147483739" r:id="rId11"/>
    <p:sldLayoutId id="2147483740" r:id="rId12"/>
    <p:sldLayoutId id="2147483741" r:id="rId13"/>
    <p:sldLayoutId id="2147483742" r:id="rId14"/>
    <p:sldLayoutId id="2147483743" r:id="rId15"/>
    <p:sldLayoutId id="2147483744" r:id="rId16"/>
    <p:sldLayoutId id="2147483745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effectLst>
            <a:outerShdw blurRad="228600" algn="ctr" rotWithShape="0">
              <a:prstClr val="black">
                <a:alpha val="53000"/>
              </a:prstClr>
            </a:outerShdw>
          </a:effectLst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effectLst>
            <a:outerShdw blurRad="228600" algn="ctr" rotWithShape="0">
              <a:prstClr val="black">
                <a:alpha val="53000"/>
              </a:prstClr>
            </a:outerShdw>
          </a:effectLst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effectLst>
            <a:outerShdw blurRad="228600" algn="ctr" rotWithShape="0">
              <a:prstClr val="black">
                <a:alpha val="53000"/>
              </a:prstClr>
            </a:outerShdw>
          </a:effectLst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effectLst>
            <a:outerShdw blurRad="228600" algn="ctr" rotWithShape="0">
              <a:prstClr val="black">
                <a:alpha val="53000"/>
              </a:prstClr>
            </a:outerShdw>
          </a:effectLst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effectLst>
            <a:outerShdw blurRad="228600" algn="ctr" rotWithShape="0">
              <a:prstClr val="black">
                <a:alpha val="53000"/>
              </a:prstClr>
            </a:outerShdw>
          </a:effectLst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6000"/>
                <a:shade val="100000"/>
                <a:hueMod val="270000"/>
                <a:satMod val="200000"/>
                <a:lumMod val="128000"/>
              </a:schemeClr>
            </a:gs>
            <a:gs pos="50000">
              <a:schemeClr val="bg2">
                <a:shade val="100000"/>
                <a:hueMod val="100000"/>
                <a:satMod val="110000"/>
                <a:lumMod val="130000"/>
              </a:schemeClr>
            </a:gs>
            <a:gs pos="100000">
              <a:schemeClr val="bg2">
                <a:shade val="78000"/>
                <a:hueMod val="44000"/>
                <a:satMod val="200000"/>
                <a:lumMod val="69000"/>
              </a:schemeClr>
            </a:gs>
          </a:gsLst>
          <a:lin ang="252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Picture 25">
            <a:extLst>
              <a:ext uri="{FF2B5EF4-FFF2-40B4-BE49-F238E27FC236}">
                <a16:creationId xmlns:a16="http://schemas.microsoft.com/office/drawing/2014/main" id="{AC3E6C53-102E-4ACA-BCBB-3CC973B994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17B2B42C-0777-4D6E-9432-535281803A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4242851"/>
            <a:ext cx="8968084" cy="275942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EFEAAB60-93E2-4DC6-99AC-939637BCE8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1716" y="4243845"/>
            <a:ext cx="3077108" cy="276940"/>
          </a:xfrm>
          <a:prstGeom prst="rect">
            <a:avLst/>
          </a:prstGeom>
        </p:spPr>
      </p:pic>
      <p:sp>
        <p:nvSpPr>
          <p:cNvPr id="30" name="Rectangle 29">
            <a:extLst>
              <a:ext uri="{FF2B5EF4-FFF2-40B4-BE49-F238E27FC236}">
                <a16:creationId xmlns:a16="http://schemas.microsoft.com/office/drawing/2014/main" id="{7EF5ECB8-D49C-48FB-A93E-88EB2FFDFD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ltGray">
          <a:xfrm>
            <a:off x="0" y="2590078"/>
            <a:ext cx="8968085" cy="1660332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411B77A2-BD5C-432D-B52E-C12612C74C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111715" y="2590078"/>
            <a:ext cx="3077109" cy="166033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 useBgFill="1">
        <p:nvSpPr>
          <p:cNvPr id="32" name="Rectangle 31">
            <a:extLst>
              <a:ext uri="{FF2B5EF4-FFF2-40B4-BE49-F238E27FC236}">
                <a16:creationId xmlns:a16="http://schemas.microsoft.com/office/drawing/2014/main" id="{B2E911EF-80F5-4781-A4DF-44EFAF242F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B0A2A734-17E4-44D5-9630-D54D6AF746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4" name="Rectangle 33">
            <a:extLst>
              <a:ext uri="{FF2B5EF4-FFF2-40B4-BE49-F238E27FC236}">
                <a16:creationId xmlns:a16="http://schemas.microsoft.com/office/drawing/2014/main" id="{EFFB5C33-24B2-4764-BDBD-4C10A21DB1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788808" y="0"/>
            <a:ext cx="3403192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FEB601E2-EFED-4313-BEE4-9E27B94FC6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242852"/>
            <a:ext cx="9110541" cy="246557"/>
          </a:xfrm>
          <a:prstGeom prst="rect">
            <a:avLst/>
          </a:prstGeom>
        </p:spPr>
      </p:pic>
      <p:sp>
        <p:nvSpPr>
          <p:cNvPr id="27" name="Rectangle 26">
            <a:extLst>
              <a:ext uri="{FF2B5EF4-FFF2-40B4-BE49-F238E27FC236}">
                <a16:creationId xmlns:a16="http://schemas.microsoft.com/office/drawing/2014/main" id="{1425DB5A-CEE1-4EE1-8C4A-689E49D354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2590078"/>
            <a:ext cx="9110542" cy="1660332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7BFB8FE-C005-A2A1-CC3C-73D9CEF834EA}"/>
              </a:ext>
            </a:extLst>
          </p:cNvPr>
          <p:cNvSpPr txBox="1"/>
          <p:nvPr/>
        </p:nvSpPr>
        <p:spPr>
          <a:xfrm>
            <a:off x="840510" y="2733709"/>
            <a:ext cx="7657792" cy="137307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algn="r"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6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Cornell MSBA DataFest 2026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519D9C8-AC74-0710-78F5-4B46630091D2}"/>
              </a:ext>
            </a:extLst>
          </p:cNvPr>
          <p:cNvSpPr txBox="1"/>
          <p:nvPr/>
        </p:nvSpPr>
        <p:spPr>
          <a:xfrm>
            <a:off x="1194149" y="4394039"/>
            <a:ext cx="7304152" cy="111768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algn="r" defTabSz="914400">
              <a:lnSpc>
                <a:spcPct val="90000"/>
              </a:lnSpc>
              <a:spcBef>
                <a:spcPts val="1000"/>
              </a:spcBef>
            </a:pPr>
            <a:r>
              <a:rPr lang="en-US" sz="2000"/>
              <a:t>By: Nathanael Gill and Om Patel</a:t>
            </a:r>
          </a:p>
        </p:txBody>
      </p:sp>
    </p:spTree>
    <p:extLst>
      <p:ext uri="{BB962C8B-B14F-4D97-AF65-F5344CB8AC3E}">
        <p14:creationId xmlns:p14="http://schemas.microsoft.com/office/powerpoint/2010/main" val="25628383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08EC46D-9704-6D7F-43AD-F518ED6B8C1C}"/>
              </a:ext>
            </a:extLst>
          </p:cNvPr>
          <p:cNvSpPr txBox="1"/>
          <p:nvPr/>
        </p:nvSpPr>
        <p:spPr>
          <a:xfrm>
            <a:off x="666974" y="2732442"/>
            <a:ext cx="43998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By: Nathanael Gill and Om Patel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79699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Berlin">
  <a:themeElements>
    <a:clrScheme name="Berlin">
      <a:dk1>
        <a:sysClr val="windowText" lastClr="000000"/>
      </a:dk1>
      <a:lt1>
        <a:sysClr val="window" lastClr="FFFFFF"/>
      </a:lt1>
      <a:dk2>
        <a:srgbClr val="6A9C41"/>
      </a:dk2>
      <a:lt2>
        <a:srgbClr val="E7E6E6"/>
      </a:lt2>
      <a:accent1>
        <a:srgbClr val="A7D535"/>
      </a:accent1>
      <a:accent2>
        <a:srgbClr val="EACA4F"/>
      </a:accent2>
      <a:accent3>
        <a:srgbClr val="FD9850"/>
      </a:accent3>
      <a:accent4>
        <a:srgbClr val="F46442"/>
      </a:accent4>
      <a:accent5>
        <a:srgbClr val="54D289"/>
      </a:accent5>
      <a:accent6>
        <a:srgbClr val="6AD8CB"/>
      </a:accent6>
      <a:hlink>
        <a:srgbClr val="CAFB50"/>
      </a:hlink>
      <a:folHlink>
        <a:srgbClr val="DEFF8B"/>
      </a:folHlink>
    </a:clrScheme>
    <a:fontScheme name="Berlin">
      <a:majorFont>
        <a:latin typeface="Trebuchet MS" panose="020B0603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Berlin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0000"/>
                <a:lumMod val="11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6000"/>
                <a:shade val="100000"/>
                <a:hueMod val="92000"/>
                <a:satMod val="200000"/>
                <a:lumMod val="138000"/>
              </a:schemeClr>
            </a:gs>
            <a:gs pos="50000">
              <a:schemeClr val="phClr">
                <a:shade val="100000"/>
                <a:hueMod val="100000"/>
                <a:satMod val="110000"/>
                <a:lumMod val="130000"/>
              </a:schemeClr>
            </a:gs>
            <a:gs pos="100000">
              <a:schemeClr val="phClr">
                <a:shade val="78000"/>
                <a:hueMod val="106000"/>
                <a:satMod val="120000"/>
                <a:lumMod val="79000"/>
              </a:schemeClr>
            </a:gs>
          </a:gsLst>
          <a:lin ang="252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erlin" id="{7B5DBA9E-B069-418E-9360-A61BDD0615A4}" vid="{B587E4A9-1405-4B4F-8BC3-512EE08D2EB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Berlin</Template>
  <TotalTime>0</TotalTime>
  <Words>18</Words>
  <Application>Microsoft Macintosh PowerPoint</Application>
  <PresentationFormat>Widescreen</PresentationFormat>
  <Paragraphs>3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Trebuchet MS</vt:lpstr>
      <vt:lpstr>Berlin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Fulfillment Reliability Pitch Deck</dc:title>
  <dc:creator>Codex</dc:creator>
  <cp:lastModifiedBy>Om Patel</cp:lastModifiedBy>
  <cp:revision>1</cp:revision>
  <dcterms:modified xsi:type="dcterms:W3CDTF">2026-05-01T03:44:28Z</dcterms:modified>
</cp:coreProperties>
</file>